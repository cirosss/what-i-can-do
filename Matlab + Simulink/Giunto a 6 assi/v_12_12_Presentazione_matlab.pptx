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47D156-173B-85A8-F5C9-CFD59EAA3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F7B9FB3-5819-65AD-6550-9365776BE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B1EA43-E76D-98A3-FFCF-4EC1C485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C57EC6-6366-7DDC-5042-6AB3C3D2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D78EBC-E88A-CC6E-B637-145A5921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324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0A1FF6-624F-0058-53C4-D8F7227A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745F2E-C6AC-64E5-9E55-1BD28C4F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6BC2CD-2B73-0EFA-B465-63449EEE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EDF697-2937-AE86-8EA9-6F620CAA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954B3B-3AD6-CFF4-D8A4-31DDE586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416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1183C5-5EA9-0EFD-4342-29E575DC6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FA48A9-8D2D-9D11-7376-23B86B64F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D6326A-0D8C-3606-B438-0816B068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A815BE-C8D3-2250-5F65-279BCDC7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6B7BA3-BACC-371C-5819-77F5DF82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14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96AF63-A160-1558-9262-EDB649C7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FD8AEB-1474-11D3-FC59-A3997EB97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73E467F-06C2-555A-6BA1-166DBFC2F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0FC5057-D955-97ED-B664-7603FF52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5DD48B-3439-56D6-2E25-5B8275B7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F4263B6-0779-0060-482C-BD4B4C2D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7286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938098-C1D9-F96D-17ED-42167566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791856-BCF1-6076-F8C6-BB1FDE0EA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9DF22E5-04B1-6E5D-5499-C4679103C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806CE45-3D46-3AB1-2A07-31F570664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22DCA31-5933-A338-6799-6F71335AC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D60756F-C4CA-39E4-E40D-243643EB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556453-1605-E72A-B9C6-55ACFD55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E99A7EC-0B50-99B9-0F2F-B8C69C5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381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AC4C-E16B-4A1C-1058-07B5A2A5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73EBBCB-A41B-A371-1AD6-294C190C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9B585B9-306B-A530-6A3A-322287BE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5DE00B-F23E-C4EC-8064-0D47E9B6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000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9468620-477A-E5F1-68A8-E952E044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93C33E8-641F-D8FC-6880-FFC6AEEB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EC1B9B-81FE-CA6E-B92E-E4FD711C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75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65FBBB-DE98-6C85-8A21-395102BE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46291B-5031-3D53-04B3-260D0033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19076B9-3D71-CB81-4DF5-1E7126141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8AE301-561E-A229-F679-1772CA78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0A5B981-8907-C83A-3D2F-E0B1A175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0BA0CE-1E89-26B0-CB01-F8B06A6F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594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8F0585-2EB9-2546-22B6-0741815E4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44A558-D7C9-902B-F6DD-971D884C7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23C9310-EF25-81C5-8BBF-CC3757694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46B222A-B357-7A65-D69C-92722992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8DDC633-607C-7D3C-F856-B6D3C507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E08B88-B3CD-15A9-26C2-5067B32C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091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4358D5-CEA5-D11E-8173-0812AE6D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1D9B4EA-C536-9136-3D1B-E20175EA1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0E2D2F-D492-FFDA-E0A1-7DAA17F7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92BCC7-98D9-66B0-A2F6-56571693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51FBDEA-E283-06E0-59D1-882721A6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0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D9C89AA-26E0-2C90-58BA-95E5C4385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A6A3EC-8E6D-C1C7-A24F-116BA83E6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EE2CCD-2AFC-0442-49F8-91D9D1F3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7B232C-D178-4352-4899-F0515A6F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2B5602-8E93-F6AB-E29C-885A5525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520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88F9987-71EA-0F38-A66A-3333CE0C3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F4950D-4E08-98FB-7862-64B6C7582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DBCE24-4F88-726A-C5F1-07E566038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7093E-10AB-456C-8159-B27AB535EEE6}" type="datetimeFigureOut">
              <a:rPr lang="it-IT" smtClean="0"/>
              <a:t>12/12/2022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DAB8CC-0E86-4FFA-1AC5-FEE635DE5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74AE85-D6B0-E5E0-918F-9B1001871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CC71C-B8B2-4800-AE52-F672389BB8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038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27B5DB-4EC9-040E-D2BA-FF15EC16F237}"/>
              </a:ext>
            </a:extLst>
          </p:cNvPr>
          <p:cNvSpPr txBox="1"/>
          <p:nvPr/>
        </p:nvSpPr>
        <p:spPr>
          <a:xfrm>
            <a:off x="3179406" y="690271"/>
            <a:ext cx="2802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MODELLAZIONE NUMERICA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8A5A97-1CDA-D679-1074-A400CAB4D589}"/>
              </a:ext>
            </a:extLst>
          </p:cNvPr>
          <p:cNvSpPr txBox="1"/>
          <p:nvPr/>
        </p:nvSpPr>
        <p:spPr>
          <a:xfrm>
            <a:off x="400440" y="1262553"/>
            <a:ext cx="11448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sistema giunto a 6 assi + massa + molla può essere schematizzato come un modello massa-molla-smorzatore a parametri concentrati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6AFE7EA-F44B-6F52-2EAC-F4E61A753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403" y="2329035"/>
            <a:ext cx="1842183" cy="1968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5C816B4-548F-FBF7-128C-06AADF253859}"/>
                  </a:ext>
                </a:extLst>
              </p:cNvPr>
              <p:cNvSpPr txBox="1"/>
              <p:nvPr/>
            </p:nvSpPr>
            <p:spPr>
              <a:xfrm>
                <a:off x="6494106" y="2329035"/>
                <a:ext cx="3303468" cy="1487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Sistema smorzato:</a:t>
                </a:r>
              </a:p>
              <a:p>
                <a:endParaRPr lang="it-IT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e>
                      </m:func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ζ</m:t>
                          </m:r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it-IT" b="0" dirty="0"/>
              </a:p>
              <a:p>
                <a:endParaRPr lang="it-IT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5C816B4-548F-FBF7-128C-06AADF253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06" y="2329035"/>
                <a:ext cx="3303468" cy="1487267"/>
              </a:xfrm>
              <a:prstGeom prst="rect">
                <a:avLst/>
              </a:prstGeom>
              <a:blipFill>
                <a:blip r:embed="rId3"/>
                <a:stretch>
                  <a:fillRect l="-1476" t="-2049" b="-28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sellaDiTesto 1">
            <a:extLst>
              <a:ext uri="{FF2B5EF4-FFF2-40B4-BE49-F238E27FC236}">
                <a16:creationId xmlns:a16="http://schemas.microsoft.com/office/drawing/2014/main" id="{2A76A3DC-7EEE-16C6-F258-9E0578175F5C}"/>
              </a:ext>
            </a:extLst>
          </p:cNvPr>
          <p:cNvSpPr txBox="1"/>
          <p:nvPr/>
        </p:nvSpPr>
        <p:spPr>
          <a:xfrm>
            <a:off x="400440" y="4779790"/>
            <a:ext cx="10664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fitting verrà eseguito sui seguenti parametri: massa, rigidezza della molla, coefficiente di smorzamento, posizione iniziale e fase.</a:t>
            </a:r>
          </a:p>
        </p:txBody>
      </p:sp>
    </p:spTree>
    <p:extLst>
      <p:ext uri="{BB962C8B-B14F-4D97-AF65-F5344CB8AC3E}">
        <p14:creationId xmlns:p14="http://schemas.microsoft.com/office/powerpoint/2010/main" val="134291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F19B272-5028-EFA7-C696-4BFD770CFF92}"/>
              </a:ext>
            </a:extLst>
          </p:cNvPr>
          <p:cNvSpPr txBox="1"/>
          <p:nvPr/>
        </p:nvSpPr>
        <p:spPr>
          <a:xfrm>
            <a:off x="4945224" y="466530"/>
            <a:ext cx="964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MATLAB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C948DC6-2FF4-133F-A7FD-39C76B891D81}"/>
              </a:ext>
            </a:extLst>
          </p:cNvPr>
          <p:cNvSpPr txBox="1"/>
          <p:nvPr/>
        </p:nvSpPr>
        <p:spPr>
          <a:xfrm>
            <a:off x="554397" y="1078972"/>
            <a:ext cx="1071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Su </a:t>
            </a:r>
            <a:r>
              <a:rPr lang="it-IT" dirty="0" err="1"/>
              <a:t>matlab</a:t>
            </a:r>
            <a:r>
              <a:rPr lang="it-IT" dirty="0"/>
              <a:t> il fitting viene eseguito attraverso la funzione</a:t>
            </a:r>
            <a:r>
              <a:rPr lang="it-IT" i="1" dirty="0"/>
              <a:t> </a:t>
            </a:r>
            <a:r>
              <a:rPr lang="it-IT" i="1" dirty="0" err="1"/>
              <a:t>fminsearch</a:t>
            </a:r>
            <a:r>
              <a:rPr lang="it-IT" i="1" dirty="0"/>
              <a:t> </a:t>
            </a:r>
            <a:r>
              <a:rPr lang="it-IT" dirty="0"/>
              <a:t>che è già presente all’interno del programma.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6284F49-94FA-DDC7-8F70-D64250957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97" y="1611199"/>
            <a:ext cx="9721154" cy="74274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413FB3C-7522-6843-C21F-98B61B6C1273}"/>
              </a:ext>
            </a:extLst>
          </p:cNvPr>
          <p:cNvSpPr txBox="1"/>
          <p:nvPr/>
        </p:nvSpPr>
        <p:spPr>
          <a:xfrm>
            <a:off x="554397" y="3443614"/>
            <a:ext cx="8443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Prima di effettuare il fitting si effettua una pre-analisi per avere una stima dei parametri:</a:t>
            </a:r>
          </a:p>
          <a:p>
            <a:pPr marL="285750" indent="-285750">
              <a:buFontTx/>
              <a:buChar char="-"/>
            </a:pPr>
            <a:r>
              <a:rPr lang="it-IT" dirty="0"/>
              <a:t>Individuazione peso della massa</a:t>
            </a:r>
          </a:p>
          <a:p>
            <a:pPr marL="285750" indent="-285750">
              <a:buFontTx/>
              <a:buChar char="-"/>
            </a:pPr>
            <a:r>
              <a:rPr lang="it-IT" dirty="0"/>
              <a:t>Misura la rigidezza della molla</a:t>
            </a:r>
          </a:p>
          <a:p>
            <a:pPr marL="285750" indent="-285750">
              <a:buFontTx/>
              <a:buChar char="-"/>
            </a:pPr>
            <a:r>
              <a:rPr lang="it-IT" dirty="0"/>
              <a:t>Calcolo del decremento logaritmico</a:t>
            </a:r>
          </a:p>
          <a:p>
            <a:pPr marL="285750" indent="-285750">
              <a:buFontTx/>
              <a:buChar char="-"/>
            </a:pPr>
            <a:r>
              <a:rPr lang="it-IT" dirty="0"/>
              <a:t>Calcolo dell’ampiezza</a:t>
            </a:r>
          </a:p>
          <a:p>
            <a:pPr marL="285750" indent="-285750">
              <a:buFontTx/>
              <a:buChar char="-"/>
            </a:pPr>
            <a:r>
              <a:rPr lang="it-IT" dirty="0"/>
              <a:t>Calcolo della fase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9F825E0-8274-63EB-B9E5-CB4431A946B7}"/>
              </a:ext>
            </a:extLst>
          </p:cNvPr>
          <p:cNvSpPr txBox="1"/>
          <p:nvPr/>
        </p:nvSpPr>
        <p:spPr>
          <a:xfrm>
            <a:off x="554397" y="5392292"/>
            <a:ext cx="9721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«post-processing» si esegue la trasformata di Fourier sui segnali acquisiti a diverse frequenze in modo da verificare la validità del teorema di </a:t>
            </a:r>
            <a:r>
              <a:rPr lang="it-IT" dirty="0" err="1"/>
              <a:t>Nyquist</a:t>
            </a:r>
            <a:r>
              <a:rPr lang="it-IT" dirty="0"/>
              <a:t> (Teorema del campionamento)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DF513BCF-D5D1-A279-F59B-27D8FFB4248D}"/>
                  </a:ext>
                </a:extLst>
              </p:cNvPr>
              <p:cNvSpPr txBox="1"/>
              <p:nvPr/>
            </p:nvSpPr>
            <p:spPr>
              <a:xfrm>
                <a:off x="554397" y="2581002"/>
                <a:ext cx="9483365" cy="668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La distanza di applicazione del carico </a:t>
                </a:r>
                <a:r>
                  <a:rPr lang="it-IT" i="1" dirty="0"/>
                  <a:t>h </a:t>
                </a:r>
                <a:r>
                  <a:rPr lang="it-IT" dirty="0"/>
                  <a:t>viene calcolata dopo il fitting della forza nel seguente modo: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DF513BCF-D5D1-A279-F59B-27D8FFB42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97" y="2581002"/>
                <a:ext cx="9483365" cy="668260"/>
              </a:xfrm>
              <a:prstGeom prst="rect">
                <a:avLst/>
              </a:prstGeom>
              <a:blipFill>
                <a:blip r:embed="rId3"/>
                <a:stretch>
                  <a:fillRect l="-578" t="-22727" b="-945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29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672A258-1493-E7D0-5B90-C5CA6432D894}"/>
              </a:ext>
            </a:extLst>
          </p:cNvPr>
          <p:cNvSpPr txBox="1"/>
          <p:nvPr/>
        </p:nvSpPr>
        <p:spPr>
          <a:xfrm>
            <a:off x="5053054" y="541176"/>
            <a:ext cx="2085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RISULTATI OTTENUTI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FE12234-78F2-2E3B-EAF9-F82B7D9E881C}"/>
              </a:ext>
            </a:extLst>
          </p:cNvPr>
          <p:cNvSpPr txBox="1"/>
          <p:nvPr/>
        </p:nvSpPr>
        <p:spPr>
          <a:xfrm>
            <a:off x="438539" y="1240971"/>
            <a:ext cx="3321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Tabella riepilogativa dei risultati: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E2E5078-1532-D55D-DC63-EFE8D382441C}"/>
              </a:ext>
            </a:extLst>
          </p:cNvPr>
          <p:cNvSpPr txBox="1"/>
          <p:nvPr/>
        </p:nvSpPr>
        <p:spPr>
          <a:xfrm>
            <a:off x="7548466" y="1240971"/>
            <a:ext cx="278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Verifica teorema di </a:t>
            </a:r>
            <a:r>
              <a:rPr lang="it-IT" dirty="0" err="1"/>
              <a:t>Nyquist</a:t>
            </a:r>
            <a:r>
              <a:rPr lang="it-IT" dirty="0"/>
              <a:t>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C38AC4E-902D-97B9-CD48-F868205C7237}"/>
              </a:ext>
            </a:extLst>
          </p:cNvPr>
          <p:cNvSpPr txBox="1"/>
          <p:nvPr/>
        </p:nvSpPr>
        <p:spPr>
          <a:xfrm>
            <a:off x="7623111" y="2187255"/>
            <a:ext cx="3135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PLOT DELLE TRAF DI FOURIER SOVRAPPOSTE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83C63A3-3F71-2879-B037-512587395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352870"/>
              </p:ext>
            </p:extLst>
          </p:nvPr>
        </p:nvGraphicFramePr>
        <p:xfrm>
          <a:off x="272662" y="1726939"/>
          <a:ext cx="5279052" cy="192132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36612">
                  <a:extLst>
                    <a:ext uri="{9D8B030D-6E8A-4147-A177-3AD203B41FA5}">
                      <a16:colId xmlns:a16="http://schemas.microsoft.com/office/drawing/2014/main" val="43229557"/>
                    </a:ext>
                  </a:extLst>
                </a:gridCol>
                <a:gridCol w="767304">
                  <a:extLst>
                    <a:ext uri="{9D8B030D-6E8A-4147-A177-3AD203B41FA5}">
                      <a16:colId xmlns:a16="http://schemas.microsoft.com/office/drawing/2014/main" val="2272580122"/>
                    </a:ext>
                  </a:extLst>
                </a:gridCol>
                <a:gridCol w="767304">
                  <a:extLst>
                    <a:ext uri="{9D8B030D-6E8A-4147-A177-3AD203B41FA5}">
                      <a16:colId xmlns:a16="http://schemas.microsoft.com/office/drawing/2014/main" val="1538260231"/>
                    </a:ext>
                  </a:extLst>
                </a:gridCol>
                <a:gridCol w="736612">
                  <a:extLst>
                    <a:ext uri="{9D8B030D-6E8A-4147-A177-3AD203B41FA5}">
                      <a16:colId xmlns:a16="http://schemas.microsoft.com/office/drawing/2014/main" val="2348128158"/>
                    </a:ext>
                  </a:extLst>
                </a:gridCol>
                <a:gridCol w="767304">
                  <a:extLst>
                    <a:ext uri="{9D8B030D-6E8A-4147-A177-3AD203B41FA5}">
                      <a16:colId xmlns:a16="http://schemas.microsoft.com/office/drawing/2014/main" val="2004936296"/>
                    </a:ext>
                  </a:extLst>
                </a:gridCol>
                <a:gridCol w="767304">
                  <a:extLst>
                    <a:ext uri="{9D8B030D-6E8A-4147-A177-3AD203B41FA5}">
                      <a16:colId xmlns:a16="http://schemas.microsoft.com/office/drawing/2014/main" val="3241677622"/>
                    </a:ext>
                  </a:extLst>
                </a:gridCol>
                <a:gridCol w="736612">
                  <a:extLst>
                    <a:ext uri="{9D8B030D-6E8A-4147-A177-3AD203B41FA5}">
                      <a16:colId xmlns:a16="http://schemas.microsoft.com/office/drawing/2014/main" val="2053353231"/>
                    </a:ext>
                  </a:extLst>
                </a:gridCol>
              </a:tblGrid>
              <a:tr h="295589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u="none" strike="noStrike" dirty="0">
                          <a:effectLst/>
                        </a:rPr>
                        <a:t> </a:t>
                      </a:r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m [kg]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k [N/mm]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ζ [-]</a:t>
                      </a:r>
                      <a:endParaRPr lang="el-G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x</a:t>
                      </a:r>
                      <a:r>
                        <a:rPr lang="it-IT" sz="1100" u="none" strike="noStrike" baseline="-25000">
                          <a:effectLst/>
                        </a:rPr>
                        <a:t>0</a:t>
                      </a:r>
                      <a:r>
                        <a:rPr lang="it-IT" sz="1100" u="none" strike="noStrike">
                          <a:effectLst/>
                        </a:rPr>
                        <a:t> [m]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100" u="none" strike="noStrike">
                          <a:effectLst/>
                        </a:rPr>
                        <a:t>ω</a:t>
                      </a:r>
                      <a:r>
                        <a:rPr lang="it-IT" sz="1100" u="none" strike="noStrike" baseline="-25000">
                          <a:effectLst/>
                        </a:rPr>
                        <a:t>n</a:t>
                      </a:r>
                      <a:r>
                        <a:rPr lang="it-IT" sz="1100" u="none" strike="noStrike">
                          <a:effectLst/>
                        </a:rPr>
                        <a:t> [rad/s]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[m]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4777084"/>
                  </a:ext>
                </a:extLst>
              </a:tr>
              <a:tr h="27285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Prova 1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1,8565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425,3543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0,0007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0,0031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15,1364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0,0363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2627777"/>
                  </a:ext>
                </a:extLst>
              </a:tr>
              <a:tr h="26148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Prova 2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1,8763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430,1435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0,0007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0,0053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15,1409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0,0346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4401742"/>
                  </a:ext>
                </a:extLst>
              </a:tr>
              <a:tr h="27285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Prova 3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1,8569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425,8425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0,0007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0,0038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15,1438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0,0369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7740798"/>
                  </a:ext>
                </a:extLst>
              </a:tr>
              <a:tr h="27285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Prova 4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1,8551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425,6347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0,0008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0,0042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15,1473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0,037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1430697"/>
                  </a:ext>
                </a:extLst>
              </a:tr>
              <a:tr h="27285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Prova 5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1,8475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423,8994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0,0008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0,0024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15,1474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0,0374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5871192"/>
                  </a:ext>
                </a:extLst>
              </a:tr>
              <a:tr h="27285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Prova 6</a:t>
                      </a:r>
                      <a:endParaRPr lang="it-I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1,8911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433,0795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0,0012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0,0048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>
                          <a:effectLst/>
                        </a:rPr>
                        <a:t>15,1332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u="none" strike="noStrike" dirty="0">
                          <a:effectLst/>
                        </a:rPr>
                        <a:t>0,0323</a:t>
                      </a:r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923572"/>
                  </a:ext>
                </a:extLst>
              </a:tr>
            </a:tbl>
          </a:graphicData>
        </a:graphic>
      </p:graphicFrame>
      <p:pic>
        <p:nvPicPr>
          <p:cNvPr id="10" name="Immagine 9">
            <a:extLst>
              <a:ext uri="{FF2B5EF4-FFF2-40B4-BE49-F238E27FC236}">
                <a16:creationId xmlns:a16="http://schemas.microsoft.com/office/drawing/2014/main" id="{04BDF5C2-F678-4638-6814-FE8F9A202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9" y="3764902"/>
            <a:ext cx="3731513" cy="288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57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261</Words>
  <Application>Microsoft Office PowerPoint</Application>
  <PresentationFormat>Widescreen</PresentationFormat>
  <Paragraphs>72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STAITI SELLITTO CIRO</dc:creator>
  <cp:lastModifiedBy>STAITI SELLITTO CIRO</cp:lastModifiedBy>
  <cp:revision>2</cp:revision>
  <dcterms:created xsi:type="dcterms:W3CDTF">2022-12-09T15:42:10Z</dcterms:created>
  <dcterms:modified xsi:type="dcterms:W3CDTF">2022-12-12T08:21:05Z</dcterms:modified>
</cp:coreProperties>
</file>